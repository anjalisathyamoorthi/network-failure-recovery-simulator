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4241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142346"/>
                </a:solidFill>
                <a:latin typeface="Aptos Display"/>
              </a:defRPr>
            </a:pPr>
            <a:r>
              <a:t>NETWORK FAILURE</a:t>
            </a:r>
            <a:br/>
            <a:r>
              <a:t>RECOVERY SIMULATOR</a:t>
            </a:r>
          </a:p>
          <a:p>
            <a:pPr>
              <a:defRPr sz="1200" b="1">
                <a:solidFill>
                  <a:srgbClr val="2D69BE"/>
                </a:solidFill>
                <a:latin typeface="Aptos"/>
              </a:defRPr>
            </a:pPr>
            <a:r>
              <a:t>DAA HACKATHON  •  PROBLEM 55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07492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ONE-LINE IDEA</a:t>
            </a:r>
          </a:p>
          <a:p>
            <a:pPr>
              <a:spcAft>
                <a:spcPts val="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Simulating router &amp; link failures using graph algorithms to analyze connectivity and recovery paths.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64008" cy="14173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89320" y="1874519"/>
            <a:ext cx="498348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PROBLEM DOMAIN</a:t>
            </a:r>
          </a:p>
          <a:p>
            <a:pPr>
              <a:spcAft>
                <a:spcPts val="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Computer networks • Graph theory • Network resilience • DAA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874519"/>
            <a:ext cx="64008" cy="1417320"/>
          </a:xfrm>
          <a:prstGeom prst="rect">
            <a:avLst/>
          </a:prstGeom>
          <a:solidFill>
            <a:srgbClr val="23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3657600"/>
            <a:ext cx="10287000" cy="132588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TEAM MEMBERS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S. Anjali  •  M. Vaishnavi  •  G. Harshitha</a:t>
            </a:r>
            <a:br/>
            <a:r>
              <a:t>S. Jahnavi  •  B. Vaishnavi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657600"/>
            <a:ext cx="64008" cy="132588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6"/>
                </a:solidFill>
                <a:latin typeface="Aptos Display"/>
              </a:defRPr>
            </a:pPr>
            <a:r>
              <a:t>02  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387"/>
                </a:solidFill>
                <a:latin typeface="Aptos"/>
              </a:defRPr>
            </a:pPr>
            <a:r>
              <a:t>Why network failures need fast, understandable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387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246120" cy="20574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REAL-WORLD PROBLEM</a:t>
            </a:r>
          </a:p>
          <a:p>
            <a:pPr>
              <a:spcAft>
                <a:spcPts val="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A computer network can lose connectivity when a router or network link fails.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20574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60520" y="1417320"/>
            <a:ext cx="3246120" cy="20574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WHY IT MATTERS</a:t>
            </a:r>
          </a:p>
          <a:p>
            <a:pPr>
              <a:spcAft>
                <a:spcPts val="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A failure can split the network into disconnected sections and make an original route unavailable.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64008" cy="2057400"/>
          </a:xfrm>
          <a:prstGeom prst="rect">
            <a:avLst/>
          </a:prstGeom>
          <a:solidFill>
            <a:srgbClr val="EB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35240" y="1417320"/>
            <a:ext cx="3337560" cy="20574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KEY CHALLENGES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Detect disconnected components</a:t>
            </a:r>
            <a:br/>
            <a:r>
              <a:t>Find alternate routes</a:t>
            </a:r>
            <a:br/>
            <a:r>
              <a:t>Identify critical connections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417320"/>
            <a:ext cx="64008" cy="205740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10287000" cy="132588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CORE QUESTION</a:t>
            </a:r>
          </a:p>
          <a:p>
            <a:pPr>
              <a:spcAft>
                <a:spcPts val="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After a failure: Can routers still reach each other? Is there another route? What is the least-cost route?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64008" cy="1325880"/>
          </a:xfrm>
          <a:prstGeom prst="rect">
            <a:avLst/>
          </a:prstGeom>
          <a:solidFill>
            <a:srgbClr val="23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6"/>
                </a:solidFill>
                <a:latin typeface="Aptos Display"/>
              </a:defRPr>
            </a:pPr>
            <a:r>
              <a:t>03  OUR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387"/>
                </a:solidFill>
                <a:latin typeface="Aptos"/>
              </a:defRPr>
            </a:pPr>
            <a:r>
              <a:t>A focused graph-analysis workflow for router and link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387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4612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CORE IDEA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Model the network as a graph, simulate a failure, update the graph, then analyze what remains reachable.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14173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24612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DIFFERENTIATOR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Combines reachability, components and path analysis in one simulator.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64008" cy="1417320"/>
          </a:xfrm>
          <a:prstGeom prst="rect">
            <a:avLst/>
          </a:prstGeom>
          <a:solidFill>
            <a:srgbClr val="23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35240" y="1325880"/>
            <a:ext cx="333756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UNIQUE APPROACH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Use BFS/DFS for structure and Dijkstra for least-cost paths after failure.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325880"/>
            <a:ext cx="64008" cy="141732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4983480" cy="1874519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KEY FEATURES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• Simulate router and link failures</a:t>
            </a:r>
            <a:br/>
            <a:r>
              <a:t>• Detect disconnected sections</a:t>
            </a:r>
            <a:br/>
            <a:r>
              <a:t>• Find alternate routes</a:t>
            </a:r>
            <a:br/>
            <a:r>
              <a:t>• Identify critical connections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64008" cy="1874519"/>
          </a:xfrm>
          <a:prstGeom prst="rect">
            <a:avLst/>
          </a:prstGeom>
          <a:solidFill>
            <a:srgbClr val="EB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97880" y="3063240"/>
            <a:ext cx="5074920" cy="1874519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USER VALUE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Turns important graph/search decisions into an easy-to-understand visual analysis of the network after a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306324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6"/>
                </a:solidFill>
                <a:latin typeface="Aptos Display"/>
              </a:defRPr>
            </a:pPr>
            <a:r>
              <a:t>04 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387"/>
                </a:solidFill>
                <a:latin typeface="Aptos"/>
              </a:defRPr>
            </a:pPr>
            <a:r>
              <a:t>Input → Processing → Algorithm →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387"/>
                </a:solidFill>
              </a:defRPr>
            </a:pPr>
            <a: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508760"/>
            <a:ext cx="566928" cy="566928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2176272"/>
            <a:ext cx="914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42346"/>
                </a:solidFill>
              </a:defRPr>
            </a:pPr>
            <a:r>
              <a:t>Create Network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69848" y="1792224"/>
            <a:ext cx="1170432" cy="0"/>
          </a:xfrm>
          <a:prstGeom prst="line">
            <a:avLst/>
          </a:prstGeom>
          <a:ln w="25400">
            <a:solidFill>
              <a:srgbClr val="23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240280" y="1508760"/>
            <a:ext cx="566928" cy="566928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176272"/>
            <a:ext cx="914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42346"/>
                </a:solidFill>
              </a:defRPr>
            </a:pPr>
            <a:r>
              <a:t>Simulate Failure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07208" y="1792224"/>
            <a:ext cx="1170431" cy="0"/>
          </a:xfrm>
          <a:prstGeom prst="line">
            <a:avLst/>
          </a:prstGeom>
          <a:ln w="25400">
            <a:solidFill>
              <a:srgbClr val="23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977639" y="1508760"/>
            <a:ext cx="566928" cy="566928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176272"/>
            <a:ext cx="914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42346"/>
                </a:solidFill>
              </a:defRPr>
            </a:pPr>
            <a:r>
              <a:t>Update Graph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44568" y="1792224"/>
            <a:ext cx="1170432" cy="0"/>
          </a:xfrm>
          <a:prstGeom prst="line">
            <a:avLst/>
          </a:prstGeom>
          <a:ln w="25400">
            <a:solidFill>
              <a:srgbClr val="23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715000" y="1508760"/>
            <a:ext cx="566928" cy="566928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408" y="2176272"/>
            <a:ext cx="914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42346"/>
                </a:solidFill>
              </a:defRPr>
            </a:pPr>
            <a:r>
              <a:t>Analyze Connectivity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81928" y="1792224"/>
            <a:ext cx="1170432" cy="0"/>
          </a:xfrm>
          <a:prstGeom prst="line">
            <a:avLst/>
          </a:prstGeom>
          <a:ln w="25400">
            <a:solidFill>
              <a:srgbClr val="23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452360" y="1508760"/>
            <a:ext cx="566928" cy="566928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2176272"/>
            <a:ext cx="914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42346"/>
                </a:solidFill>
              </a:defRPr>
            </a:pPr>
            <a:r>
              <a:t>Find Routes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19288" y="1792224"/>
            <a:ext cx="1170432" cy="0"/>
          </a:xfrm>
          <a:prstGeom prst="line">
            <a:avLst/>
          </a:prstGeom>
          <a:ln w="25400">
            <a:solidFill>
              <a:srgbClr val="23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189720" y="1508760"/>
            <a:ext cx="566928" cy="566928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2176272"/>
            <a:ext cx="914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42346"/>
                </a:solidFill>
              </a:defRPr>
            </a:pPr>
            <a:r>
              <a:t>Display 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154680"/>
            <a:ext cx="489204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PROCESSING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Failure updates the graph. BFS/DFS and connected-component analysis reveal reachability; Dijkstra determines a least-cost route where a valid path exists.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154680"/>
            <a:ext cx="64008" cy="18288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897880" y="3154680"/>
            <a:ext cx="507492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USER JOURNEY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Choose a network → introduce router/link failure → inspect disconnected components → view alternate route → review least-cost route.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97880" y="3154680"/>
            <a:ext cx="64008" cy="182880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8B9BF8-92E5-5269-90EB-AF555414F857}"/>
              </a:ext>
            </a:extLst>
          </p:cNvPr>
          <p:cNvSpPr txBox="1"/>
          <p:nvPr/>
        </p:nvSpPr>
        <p:spPr>
          <a:xfrm>
            <a:off x="749808" y="5279923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REPORT : </a:t>
            </a:r>
            <a:r>
              <a:rPr lang="en-IN" dirty="0"/>
              <a:t>https://docs.google.com/document/d/1qnzQk33yISf-cNUSCsXLfsWeL-abp44J/edit?usp=sharing&amp;ouid=101828654503135201496&amp;rtpof=true&amp;sd=true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6"/>
                </a:solidFill>
                <a:latin typeface="Aptos Display"/>
              </a:defRPr>
            </a:pPr>
            <a:r>
              <a:t>05  TECHNOLOGY &amp;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387"/>
                </a:solidFill>
                <a:latin typeface="Aptos"/>
              </a:defRPr>
            </a:pPr>
            <a:r>
              <a:t>Tools and graph algorithms behind the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387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3246120" cy="132588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TECH STACK</a:t>
            </a:r>
          </a:p>
          <a:p>
            <a:pPr>
              <a:spcAft>
                <a:spcPts val="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Python • React • Flask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64008" cy="132588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60520" y="1280160"/>
            <a:ext cx="3246120" cy="132588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GRAPH MODEL</a:t>
            </a:r>
          </a:p>
          <a:p>
            <a:pPr>
              <a:spcAft>
                <a:spcPts val="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Routers as vertices</a:t>
            </a:r>
            <a:br/>
            <a:r>
              <a:t>Links as edges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280160"/>
            <a:ext cx="64008" cy="1325880"/>
          </a:xfrm>
          <a:prstGeom prst="rect">
            <a:avLst/>
          </a:prstGeom>
          <a:solidFill>
            <a:srgbClr val="23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35240" y="1280160"/>
            <a:ext cx="3337560" cy="132588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DESIGN GOAL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Clear connectivity and path decisions after failures.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280160"/>
            <a:ext cx="64008" cy="132588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2468880" cy="20574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DIJKSTRA</a:t>
            </a:r>
          </a:p>
          <a:p>
            <a:pPr>
              <a:spcAft>
                <a:spcPts val="0"/>
              </a:spcAft>
              <a:defRPr sz="1150">
                <a:solidFill>
                  <a:srgbClr val="232D3C"/>
                </a:solidFill>
                <a:latin typeface="Aptos"/>
              </a:defRPr>
            </a:pPr>
            <a:r>
              <a:t>Least-cost paths with non-negative edge weights.</a:t>
            </a:r>
            <a:br/>
            <a:br/>
            <a:r>
              <a:t>Typical complexity: O((V+E) log V) with a heap.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64008" cy="2057400"/>
          </a:xfrm>
          <a:prstGeom prst="rect">
            <a:avLst/>
          </a:prstGeom>
          <a:solidFill>
            <a:srgbClr val="EB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37560" y="2880360"/>
            <a:ext cx="2468880" cy="20574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BFS</a:t>
            </a:r>
          </a:p>
          <a:p>
            <a:pPr>
              <a:spcAft>
                <a:spcPts val="0"/>
              </a:spcAft>
              <a:defRPr sz="1150">
                <a:solidFill>
                  <a:srgbClr val="232D3C"/>
                </a:solidFill>
                <a:latin typeface="Aptos"/>
              </a:defRPr>
            </a:pPr>
            <a:r>
              <a:t>Level-by-level exploration for reachability and minimum-hop paths.</a:t>
            </a:r>
            <a:br/>
            <a:br/>
            <a:r>
              <a:t>Complexity: O(V+E).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880360"/>
            <a:ext cx="64008" cy="20574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89320" y="2880360"/>
            <a:ext cx="2468880" cy="20574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DFS</a:t>
            </a:r>
          </a:p>
          <a:p>
            <a:pPr>
              <a:spcAft>
                <a:spcPts val="0"/>
              </a:spcAft>
              <a:defRPr sz="1150">
                <a:solidFill>
                  <a:srgbClr val="232D3C"/>
                </a:solidFill>
                <a:latin typeface="Aptos"/>
              </a:defRPr>
            </a:pPr>
            <a:r>
              <a:t>Deep exploration for reachability, dependencies and components.</a:t>
            </a:r>
            <a:br/>
            <a:br/>
            <a:r>
              <a:t>Complexity: O(V+E).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880360"/>
            <a:ext cx="64008" cy="2057400"/>
          </a:xfrm>
          <a:prstGeom prst="rect">
            <a:avLst/>
          </a:prstGeom>
          <a:solidFill>
            <a:srgbClr val="23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41080" y="2880360"/>
            <a:ext cx="2331720" cy="20574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CONNECTED</a:t>
            </a:r>
            <a:br/>
            <a:r>
              <a:t>COMPONENTS</a:t>
            </a:r>
          </a:p>
          <a:p>
            <a:pPr>
              <a:spcAft>
                <a:spcPts val="0"/>
              </a:spcAft>
              <a:defRPr sz="1120">
                <a:solidFill>
                  <a:srgbClr val="232D3C"/>
                </a:solidFill>
                <a:latin typeface="Aptos"/>
              </a:defRPr>
            </a:pPr>
            <a:r>
              <a:t>Groups routers that remain mutually reachable after a failure.</a:t>
            </a:r>
            <a:br/>
            <a:br/>
            <a:r>
              <a:t>Complexity: O(V+E).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2880360"/>
            <a:ext cx="64008" cy="205740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6"/>
                </a:solidFill>
                <a:latin typeface="Aptos Display"/>
              </a:defRPr>
            </a:pPr>
            <a:r>
              <a:t>06  DEMO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387"/>
                </a:solidFill>
                <a:latin typeface="Aptos"/>
              </a:defRPr>
            </a:pPr>
            <a:r>
              <a:t>Sample failure scenario from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387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657600" cy="109728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DEMO SCENARIO</a:t>
            </a:r>
          </a:p>
          <a:p>
            <a:pPr>
              <a:spcAft>
                <a:spcPts val="0"/>
              </a:spcAft>
              <a:defRPr sz="1600">
                <a:solidFill>
                  <a:srgbClr val="232D3C"/>
                </a:solidFill>
                <a:latin typeface="Aptos"/>
              </a:defRPr>
            </a:pPr>
            <a:r>
              <a:t>FAILURE DETECTED: Router B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64008" cy="1097280"/>
          </a:xfrm>
          <a:prstGeom prst="rect">
            <a:avLst/>
          </a:prstGeom>
          <a:solidFill>
            <a:srgbClr val="EB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365760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SAMPLE OUTPUT</a:t>
            </a:r>
          </a:p>
          <a:p>
            <a:pPr>
              <a:spcAft>
                <a:spcPts val="0"/>
              </a:spcAft>
              <a:defRPr sz="1250">
                <a:solidFill>
                  <a:srgbClr val="232D3C"/>
                </a:solidFill>
                <a:latin typeface="Aptos"/>
              </a:defRPr>
            </a:pPr>
            <a:r>
              <a:t>Connected Components:</a:t>
            </a:r>
            <a:br/>
            <a:r>
              <a:t>Component 1 → A, D</a:t>
            </a:r>
            <a:br/>
            <a:r>
              <a:t>Component 2 → C, E, F</a:t>
            </a:r>
            <a:br/>
            <a:br/>
            <a:r>
              <a:t>Alternate Route:</a:t>
            </a:r>
            <a:br/>
            <a:r>
              <a:t>A → D → E → 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64008" cy="18288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4526280"/>
            <a:ext cx="365760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LEAST-COST ROUTE</a:t>
            </a:r>
          </a:p>
          <a:p>
            <a:pPr>
              <a:spcAft>
                <a:spcPts val="0"/>
              </a:spcAft>
              <a:defRPr sz="1500">
                <a:solidFill>
                  <a:srgbClr val="232D3C"/>
                </a:solidFill>
                <a:latin typeface="Aptos"/>
              </a:defRPr>
            </a:pPr>
            <a:r>
              <a:t>A → D → E →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526280"/>
            <a:ext cx="64008" cy="91440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17720" y="1234440"/>
            <a:ext cx="6355080" cy="420624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V="1">
            <a:off x="5504688" y="1847088"/>
            <a:ext cx="2286000" cy="320040"/>
          </a:xfrm>
          <a:prstGeom prst="line">
            <a:avLst/>
          </a:prstGeom>
          <a:ln w="25400">
            <a:solidFill>
              <a:srgbClr val="A5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04688" y="2167128"/>
            <a:ext cx="960120" cy="1417320"/>
          </a:xfrm>
          <a:prstGeom prst="line">
            <a:avLst/>
          </a:prstGeom>
          <a:ln w="25400">
            <a:solidFill>
              <a:srgbClr val="A5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90688" y="1847088"/>
            <a:ext cx="2286000" cy="365760"/>
          </a:xfrm>
          <a:prstGeom prst="line">
            <a:avLst/>
          </a:prstGeom>
          <a:ln w="25400">
            <a:solidFill>
              <a:srgbClr val="A5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90688" y="1847088"/>
            <a:ext cx="685800" cy="1783080"/>
          </a:xfrm>
          <a:prstGeom prst="line">
            <a:avLst/>
          </a:prstGeom>
          <a:ln w="25400">
            <a:solidFill>
              <a:srgbClr val="A5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64808" y="3584448"/>
            <a:ext cx="2011680" cy="45720"/>
          </a:xfrm>
          <a:prstGeom prst="line">
            <a:avLst/>
          </a:prstGeom>
          <a:ln w="25400">
            <a:solidFill>
              <a:srgbClr val="A5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76488" y="2212848"/>
            <a:ext cx="1600200" cy="1417320"/>
          </a:xfrm>
          <a:prstGeom prst="line">
            <a:avLst/>
          </a:prstGeom>
          <a:ln w="25400">
            <a:solidFill>
              <a:srgbClr val="A5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76488" y="3630168"/>
            <a:ext cx="1828800" cy="777240"/>
          </a:xfrm>
          <a:prstGeom prst="line">
            <a:avLst/>
          </a:prstGeom>
          <a:ln w="25400">
            <a:solidFill>
              <a:srgbClr val="A5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257800" y="1920240"/>
            <a:ext cx="502920" cy="50292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7543800" y="1600200"/>
            <a:ext cx="502920" cy="502920"/>
          </a:xfrm>
          <a:prstGeom prst="ellipse">
            <a:avLst/>
          </a:prstGeom>
          <a:solidFill>
            <a:srgbClr val="EB8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23" name="Oval 22"/>
          <p:cNvSpPr/>
          <p:nvPr/>
        </p:nvSpPr>
        <p:spPr>
          <a:xfrm>
            <a:off x="9829800" y="1965960"/>
            <a:ext cx="502920" cy="50292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337560"/>
            <a:ext cx="502920" cy="50292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0" y="3383280"/>
            <a:ext cx="502920" cy="50292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6" name="Oval 25"/>
          <p:cNvSpPr/>
          <p:nvPr/>
        </p:nvSpPr>
        <p:spPr>
          <a:xfrm>
            <a:off x="10058400" y="4160520"/>
            <a:ext cx="502920" cy="50292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04688" y="2167128"/>
            <a:ext cx="960120" cy="1417320"/>
          </a:xfrm>
          <a:prstGeom prst="line">
            <a:avLst/>
          </a:prstGeom>
          <a:ln w="50800">
            <a:solidFill>
              <a:srgbClr val="30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64808" y="3584448"/>
            <a:ext cx="2011680" cy="45720"/>
          </a:xfrm>
          <a:prstGeom prst="line">
            <a:avLst/>
          </a:prstGeom>
          <a:ln w="50800">
            <a:solidFill>
              <a:srgbClr val="30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76488" y="2212848"/>
            <a:ext cx="1600200" cy="1417320"/>
          </a:xfrm>
          <a:prstGeom prst="line">
            <a:avLst/>
          </a:prstGeom>
          <a:ln w="50800">
            <a:solidFill>
              <a:srgbClr val="30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983480" y="5074920"/>
            <a:ext cx="5623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387"/>
                </a:solidFill>
              </a:defRPr>
            </a:pPr>
            <a:r>
              <a:t>Illustrative network view • B = failed router • green = alternate route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46"/>
                </a:solidFill>
                <a:latin typeface="Aptos Display"/>
              </a:defRPr>
            </a:pPr>
            <a:r>
              <a:t>07  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387"/>
                </a:solidFill>
                <a:latin typeface="Aptos"/>
              </a:defRPr>
            </a:pPr>
            <a:r>
              <a:t>From a DAA demonstration to a scalable network-resilience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387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4612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CURRENT ACHIEVEMENT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Demonstrates failure simulation, disconnected components, alternate routes and least-cost routing.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15087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24612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FUTURE IMPROVEMENTS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Richer network scenarios, more failure types, clearer visual analytics and expanded result reporting.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64008" cy="1508760"/>
          </a:xfrm>
          <a:prstGeom prst="rect">
            <a:avLst/>
          </a:prstGeom>
          <a:solidFill>
            <a:srgbClr val="23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35240" y="1325880"/>
            <a:ext cx="333756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18872" rIns="137160" bIns="91440" rtlCol="0" anchor="ctr"/>
          <a:lstStyle/>
          <a:p>
            <a:pPr algn="ctr">
              <a:spcAft>
                <a:spcPts val="500"/>
              </a:spcAft>
              <a:defRPr sz="1400" b="1">
                <a:solidFill>
                  <a:srgbClr val="142346"/>
                </a:solidFill>
                <a:latin typeface="Aptos Display"/>
              </a:defRPr>
            </a:pPr>
            <a:r>
              <a:t>SCALABILITY</a:t>
            </a:r>
          </a:p>
          <a:p>
            <a:pPr>
              <a:spcAft>
                <a:spcPts val="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The graph-based design can be extended to larger networks and additional analysis algorithms.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325880"/>
            <a:ext cx="64008" cy="150876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10287000" cy="1234440"/>
          </a:xfrm>
          <a:prstGeom prst="round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A0D7FF"/>
                </a:solidFill>
                <a:latin typeface="Aptos Display"/>
              </a:defRPr>
            </a:pPr>
            <a:r>
              <a:t>FINAL TAKEAWAY</a:t>
            </a:r>
          </a:p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Graph algorithms can make network failures easier to simulate, analyze and recover from.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2416" y="4983480"/>
            <a:ext cx="20537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D69BE"/>
                </a:solidFill>
                <a:latin typeface="Aptos Display"/>
              </a:defRPr>
            </a:pPr>
            <a:r>
              <a:rPr dirty="0"/>
              <a:t>THANK YOU</a:t>
            </a:r>
          </a:p>
          <a:p>
            <a:pPr algn="ctr">
              <a:defRPr sz="1600" b="1">
                <a:solidFill>
                  <a:srgbClr val="142346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650</Words>
  <Application>Microsoft Office PowerPoint</Application>
  <PresentationFormat>Widescreen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Bandi Vaishnavi</cp:lastModifiedBy>
  <cp:revision>4</cp:revision>
  <dcterms:created xsi:type="dcterms:W3CDTF">2013-01-27T09:14:16Z</dcterms:created>
  <dcterms:modified xsi:type="dcterms:W3CDTF">2026-10-03T06:10:09Z</dcterms:modified>
  <cp:category/>
</cp:coreProperties>
</file>